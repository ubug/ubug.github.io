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84" y="-2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152360"/>
            <a:ext cx="8229240" cy="4973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822924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401580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152360"/>
            <a:ext cx="401580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137160"/>
            <a:ext cx="8229240" cy="3612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57200" y="375012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674240" y="1152360"/>
            <a:ext cx="401580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401580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15236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75012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15236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750120"/>
            <a:ext cx="822924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822924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750120"/>
            <a:ext cx="822924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15236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674240" y="375012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375012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822924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57200" y="1152360"/>
            <a:ext cx="822924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37" name="Picture 36"/>
          <p:cNvPicPr/>
          <p:nvPr/>
        </p:nvPicPr>
        <p:blipFill>
          <a:blip r:embed="rId2"/>
          <a:stretch/>
        </p:blipFill>
        <p:spPr>
          <a:xfrm>
            <a:off x="1455120" y="1152000"/>
            <a:ext cx="6233040" cy="4973400"/>
          </a:xfrm>
          <a:prstGeom prst="rect">
            <a:avLst/>
          </a:prstGeom>
          <a:ln>
            <a:noFill/>
          </a:ln>
        </p:spPr>
      </p:pic>
      <p:pic>
        <p:nvPicPr>
          <p:cNvPr id="38" name="Picture 37"/>
          <p:cNvPicPr/>
          <p:nvPr/>
        </p:nvPicPr>
        <p:blipFill>
          <a:blip r:embed="rId2"/>
          <a:stretch/>
        </p:blipFill>
        <p:spPr>
          <a:xfrm>
            <a:off x="1455120" y="1152000"/>
            <a:ext cx="6233040" cy="4973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152360"/>
            <a:ext cx="8229240" cy="4973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822924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401580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152360"/>
            <a:ext cx="401580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137160"/>
            <a:ext cx="8229240" cy="3612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375012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1152360"/>
            <a:ext cx="401580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401580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15236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75012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15236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750120"/>
            <a:ext cx="822924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822924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750120"/>
            <a:ext cx="822924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15236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674240" y="375012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57200" y="3750120"/>
            <a:ext cx="4015800" cy="2372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822924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57200" y="1152360"/>
            <a:ext cx="8229240" cy="49734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78" name="Picture 77"/>
          <p:cNvPicPr/>
          <p:nvPr/>
        </p:nvPicPr>
        <p:blipFill>
          <a:blip r:embed="rId2"/>
          <a:stretch/>
        </p:blipFill>
        <p:spPr>
          <a:xfrm>
            <a:off x="1455120" y="1152000"/>
            <a:ext cx="6233040" cy="4973400"/>
          </a:xfrm>
          <a:prstGeom prst="rect">
            <a:avLst/>
          </a:prstGeom>
          <a:ln>
            <a:noFill/>
          </a:ln>
        </p:spPr>
      </p:pic>
      <p:pic>
        <p:nvPicPr>
          <p:cNvPr id="79" name="Picture 78"/>
          <p:cNvPicPr/>
          <p:nvPr/>
        </p:nvPicPr>
        <p:blipFill>
          <a:blip r:embed="rId2"/>
          <a:stretch/>
        </p:blipFill>
        <p:spPr>
          <a:xfrm>
            <a:off x="1455120" y="1152000"/>
            <a:ext cx="6233040" cy="4973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strike="noStrike">
                <a:solidFill>
                  <a:srgbClr val="000000"/>
                </a:solidFill>
                <a:latin typeface="Arial"/>
              </a:rPr>
              <a:t>Click to edit the title text formatClick to edit Master title style</a:t>
            </a:r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strike="noStrike">
                <a:solidFill>
                  <a:srgbClr val="8B8B8B"/>
                </a:solidFill>
                <a:latin typeface="Arial"/>
              </a:rPr>
              <a:t>6/2/15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36B3CCD4-EF09-4D57-BD1D-DE051A858235}" type="slidenum">
              <a:rPr lang="en-US" sz="1200" strike="noStrike">
                <a:solidFill>
                  <a:srgbClr val="8B8B8B"/>
                </a:solidFill>
                <a:latin typeface="Arial"/>
              </a:rPr>
              <a:t>‹#›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24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11"/>
          <p:cNvPicPr/>
          <p:nvPr/>
        </p:nvPicPr>
        <p:blipFill>
          <a:blip r:embed="rId14"/>
          <a:stretch/>
        </p:blipFill>
        <p:spPr>
          <a:xfrm>
            <a:off x="3566160" y="2377440"/>
            <a:ext cx="5340240" cy="4422240"/>
          </a:xfrm>
          <a:prstGeom prst="rect">
            <a:avLst/>
          </a:prstGeom>
          <a:ln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8229240" cy="7790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3200" strike="noStrike">
                <a:solidFill>
                  <a:srgbClr val="000000"/>
                </a:solidFill>
                <a:latin typeface="Arial"/>
              </a:rPr>
              <a:t>Click to edit the title text formatClick to edit Master title style</a:t>
            </a:r>
            <a:endParaRPr/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152360"/>
            <a:ext cx="8229240" cy="4973400"/>
          </a:xfrm>
          <a:prstGeom prst="rect">
            <a:avLst/>
          </a:prstGeom>
        </p:spPr>
        <p:txBody>
          <a:bodyPr/>
          <a:lstStyle/>
          <a:p>
            <a:pPr>
              <a:buSzPct val="45000"/>
              <a:buFont typeface="StarSymbol"/>
              <a:buChar char=""/>
            </a:pPr>
            <a:r>
              <a:rPr lang="en-US" sz="2800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2800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2800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2800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800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800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800" strike="noStrike">
                <a:solidFill>
                  <a:srgbClr val="000000"/>
                </a:solidFill>
                <a:latin typeface="Arial"/>
              </a:rPr>
              <a:t>Seventh Outline LevelClick to edit Master text styles</a:t>
            </a:r>
            <a:endParaRPr/>
          </a:p>
          <a:p>
            <a:pPr lvl="7">
              <a:buSzPct val="45000"/>
              <a:buFont typeface="StarSymbol"/>
              <a:buChar char=""/>
            </a:pPr>
            <a:r>
              <a:rPr lang="en-US" sz="2800" strike="noStrike">
                <a:solidFill>
                  <a:srgbClr val="000000"/>
                </a:solidFill>
                <a:latin typeface="Arial"/>
              </a:rPr>
              <a:t>Second level</a:t>
            </a:r>
            <a:endParaRPr/>
          </a:p>
          <a:p>
            <a:pPr lvl="8">
              <a:buSzPct val="45000"/>
              <a:buFont typeface="StarSymbol"/>
              <a:buChar char=""/>
            </a:pPr>
            <a:r>
              <a:rPr lang="en-US" sz="2800" strike="noStrike">
                <a:solidFill>
                  <a:srgbClr val="000000"/>
                </a:solidFill>
                <a:latin typeface="Arial"/>
              </a:rPr>
              <a:t>Third level</a:t>
            </a:r>
            <a:endParaRPr/>
          </a:p>
          <a:p>
            <a:pPr lvl="0">
              <a:lnSpc>
                <a:spcPct val="100000"/>
              </a:lnSpc>
              <a:buSzPct val="45000"/>
              <a:buFont typeface="StarSymbol"/>
              <a:buChar char=""/>
            </a:pPr>
            <a:r>
              <a:rPr lang="en-US" sz="2800" strike="noStrike">
                <a:solidFill>
                  <a:srgbClr val="000000"/>
                </a:solidFill>
                <a:latin typeface="Arial"/>
              </a:rPr>
              <a:t>Fourth level</a:t>
            </a:r>
            <a:endParaRPr/>
          </a:p>
          <a:p>
            <a:pPr lvl="0">
              <a:lnSpc>
                <a:spcPct val="100000"/>
              </a:lnSpc>
              <a:buSzPct val="45000"/>
              <a:buFont typeface="StarSymbol"/>
              <a:buChar char=""/>
            </a:pPr>
            <a:r>
              <a:rPr lang="en-US" sz="2800" strike="noStrike">
                <a:solidFill>
                  <a:srgbClr val="000000"/>
                </a:solidFill>
                <a:latin typeface="Arial"/>
              </a:rPr>
              <a:t>Fifth level</a:t>
            </a:r>
            <a:endParaRPr/>
          </a:p>
        </p:txBody>
      </p:sp>
      <p:pic>
        <p:nvPicPr>
          <p:cNvPr id="42" name="Picture 7"/>
          <p:cNvPicPr/>
          <p:nvPr/>
        </p:nvPicPr>
        <p:blipFill>
          <a:blip r:embed="rId15"/>
          <a:stretch/>
        </p:blipFill>
        <p:spPr>
          <a:xfrm>
            <a:off x="322200" y="6396480"/>
            <a:ext cx="2725200" cy="353880"/>
          </a:xfrm>
          <a:prstGeom prst="rect">
            <a:avLst/>
          </a:prstGeom>
          <a:ln>
            <a:noFill/>
          </a:ln>
        </p:spPr>
      </p:pic>
      <p:sp>
        <p:nvSpPr>
          <p:cNvPr id="43" name="Line 3"/>
          <p:cNvSpPr/>
          <p:nvPr/>
        </p:nvSpPr>
        <p:spPr>
          <a:xfrm flipV="1">
            <a:off x="195120" y="6297840"/>
            <a:ext cx="8733600" cy="9720"/>
          </a:xfrm>
          <a:prstGeom prst="line">
            <a:avLst/>
          </a:prstGeom>
          <a:ln w="25560">
            <a:solidFill>
              <a:srgbClr val="C0504D"/>
            </a:solidFill>
            <a:round/>
          </a:ln>
        </p:spPr>
      </p:sp>
      <p:sp>
        <p:nvSpPr>
          <p:cNvPr id="44" name="Line 4"/>
          <p:cNvSpPr/>
          <p:nvPr/>
        </p:nvSpPr>
        <p:spPr>
          <a:xfrm flipV="1">
            <a:off x="195120" y="1001520"/>
            <a:ext cx="8733600" cy="9720"/>
          </a:xfrm>
          <a:prstGeom prst="line">
            <a:avLst/>
          </a:prstGeom>
          <a:ln w="25560">
            <a:solidFill>
              <a:srgbClr val="C0504D"/>
            </a:solidFill>
            <a:round/>
          </a:ln>
        </p:spPr>
      </p:sp>
      <p:pic>
        <p:nvPicPr>
          <p:cNvPr id="45" name="Picture 4"/>
          <p:cNvPicPr/>
          <p:nvPr/>
        </p:nvPicPr>
        <p:blipFill>
          <a:blip r:embed="rId16"/>
          <a:stretch/>
        </p:blipFill>
        <p:spPr>
          <a:xfrm>
            <a:off x="8179920" y="6386040"/>
            <a:ext cx="463320" cy="47196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4"/>
          <p:cNvPicPr/>
          <p:nvPr/>
        </p:nvPicPr>
        <p:blipFill>
          <a:blip r:embed="rId2"/>
          <a:stretch/>
        </p:blipFill>
        <p:spPr>
          <a:xfrm>
            <a:off x="495720" y="257040"/>
            <a:ext cx="1654920" cy="1685160"/>
          </a:xfrm>
          <a:prstGeom prst="rect">
            <a:avLst/>
          </a:prstGeom>
          <a:ln>
            <a:noFill/>
          </a:ln>
        </p:spPr>
      </p:pic>
      <p:sp>
        <p:nvSpPr>
          <p:cNvPr id="81" name="TextShape 1"/>
          <p:cNvSpPr txBox="1"/>
          <p:nvPr/>
        </p:nvSpPr>
        <p:spPr>
          <a:xfrm>
            <a:off x="380160" y="194256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strike="noStrike">
                <a:solidFill>
                  <a:srgbClr val="000000"/>
                </a:solidFill>
                <a:latin typeface="Arial"/>
              </a:rPr>
              <a:t>Localizing the Tomcat-based Student Educational Planner</a:t>
            </a:r>
            <a:endParaRPr/>
          </a:p>
        </p:txBody>
      </p:sp>
      <p:sp>
        <p:nvSpPr>
          <p:cNvPr id="82" name="TextShape 2"/>
          <p:cNvSpPr txBox="1"/>
          <p:nvPr/>
        </p:nvSpPr>
        <p:spPr>
          <a:xfrm>
            <a:off x="1104120" y="400284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3200" strike="noStrike">
                <a:solidFill>
                  <a:srgbClr val="000000"/>
                </a:solidFill>
                <a:latin typeface="Arial"/>
              </a:rPr>
              <a:t>Randy Hunt - rhunt@dixie.edu</a:t>
            </a:r>
            <a:endParaRPr/>
          </a:p>
          <a:p>
            <a:pPr algn="ctr">
              <a:lnSpc>
                <a:spcPct val="100000"/>
              </a:lnSpc>
            </a:pPr>
            <a:r>
              <a:rPr lang="en-US" sz="3200" strike="noStrike">
                <a:solidFill>
                  <a:srgbClr val="000000"/>
                </a:solidFill>
                <a:latin typeface="Arial"/>
              </a:rPr>
              <a:t>UBUG Conference 2015</a:t>
            </a:r>
            <a:endParaRPr/>
          </a:p>
        </p:txBody>
      </p:sp>
      <p:pic>
        <p:nvPicPr>
          <p:cNvPr id="83" name="Picture 3"/>
          <p:cNvPicPr/>
          <p:nvPr/>
        </p:nvPicPr>
        <p:blipFill>
          <a:blip r:embed="rId3"/>
          <a:stretch/>
        </p:blipFill>
        <p:spPr>
          <a:xfrm>
            <a:off x="6030000" y="257040"/>
            <a:ext cx="2396160" cy="1523880"/>
          </a:xfrm>
          <a:prstGeom prst="rect">
            <a:avLst/>
          </a:prstGeom>
          <a:ln>
            <a:noFill/>
          </a:ln>
        </p:spPr>
      </p:pic>
      <p:sp>
        <p:nvSpPr>
          <p:cNvPr id="84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89843704-E945-484C-A730-56B37C6797A9}" type="slidenum">
              <a:rPr lang="en-US" sz="1200" strike="noStrike">
                <a:solidFill>
                  <a:srgbClr val="8B8B8B"/>
                </a:solidFill>
                <a:latin typeface="Arial"/>
              </a:rPr>
              <a:t>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latin typeface="Arial"/>
              </a:rPr>
              <a:t>The Problem</a:t>
            </a:r>
            <a:endParaRPr/>
          </a:p>
        </p:txBody>
      </p:sp>
      <p:sp>
        <p:nvSpPr>
          <p:cNvPr id="86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</a:rPr>
              <a:t>Unless you're lucky enough to have </a:t>
            </a:r>
            <a:r>
              <a:rPr lang="en-US" sz="2800" dirty="0">
                <a:solidFill>
                  <a:srgbClr val="0093D9"/>
                </a:solidFill>
                <a:latin typeface="Arial"/>
              </a:rPr>
              <a:t>blue</a:t>
            </a:r>
            <a:r>
              <a:rPr lang="en-US" sz="2800" dirty="0">
                <a:latin typeface="Arial"/>
              </a:rPr>
              <a:t> as your main school color...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3200" b="1" strike="noStrike">
                <a:solidFill>
                  <a:srgbClr val="000000"/>
                </a:solidFill>
                <a:latin typeface="Arial"/>
              </a:rPr>
              <a:t>The Problem</a:t>
            </a:r>
            <a:endParaRPr/>
          </a:p>
        </p:txBody>
      </p:sp>
      <p:sp>
        <p:nvSpPr>
          <p:cNvPr id="88" name="CustomShape 2"/>
          <p:cNvSpPr/>
          <p:nvPr/>
        </p:nvSpPr>
        <p:spPr>
          <a:xfrm>
            <a:off x="2025720" y="5898960"/>
            <a:ext cx="184320" cy="36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TextShape 3"/>
          <p:cNvSpPr txBox="1"/>
          <p:nvPr/>
        </p:nvSpPr>
        <p:spPr>
          <a:xfrm>
            <a:off x="6631200" y="64051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A638BA83-DDE6-40EB-813F-2DFFD3A78781}" type="slidenum">
              <a:rPr lang="en-US" sz="1200" strike="noStrike">
                <a:solidFill>
                  <a:srgbClr val="8B8B8B"/>
                </a:solidFill>
                <a:latin typeface="Arial"/>
              </a:rPr>
              <a:t>3</a:t>
            </a:fld>
            <a:endParaRPr/>
          </a:p>
        </p:txBody>
      </p:sp>
      <p:pic>
        <p:nvPicPr>
          <p:cNvPr id="90" name="Picture 89"/>
          <p:cNvPicPr/>
          <p:nvPr/>
        </p:nvPicPr>
        <p:blipFill>
          <a:blip r:embed="rId2"/>
          <a:stretch/>
        </p:blipFill>
        <p:spPr>
          <a:xfrm>
            <a:off x="183240" y="735840"/>
            <a:ext cx="8777880" cy="5582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3200" b="1" strike="noStrike">
                <a:solidFill>
                  <a:srgbClr val="000000"/>
                </a:solidFill>
                <a:latin typeface="Arial"/>
              </a:rPr>
              <a:t>The Problem</a:t>
            </a:r>
            <a:endParaRPr/>
          </a:p>
        </p:txBody>
      </p:sp>
      <p:sp>
        <p:nvSpPr>
          <p:cNvPr id="92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</a:rPr>
              <a:t>Ellucian supplies the SEP as a pre-built “WAR” file that is deployed through a Tomcat server</a:t>
            </a:r>
            <a:endParaRPr dirty="0"/>
          </a:p>
          <a:p>
            <a:pPr marL="914400" lvl="1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</a:rPr>
              <a:t>Whenever there is an upgrade, or if someone simply re-deploys the SEP, the entire directory is wiped and reinitialized</a:t>
            </a:r>
            <a:endParaRPr dirty="0"/>
          </a:p>
        </p:txBody>
      </p:sp>
      <p:sp>
        <p:nvSpPr>
          <p:cNvPr id="93" name="CustomShape 3"/>
          <p:cNvSpPr/>
          <p:nvPr/>
        </p:nvSpPr>
        <p:spPr>
          <a:xfrm>
            <a:off x="2025720" y="5898960"/>
            <a:ext cx="184320" cy="36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TextShape 4"/>
          <p:cNvSpPr txBox="1"/>
          <p:nvPr/>
        </p:nvSpPr>
        <p:spPr>
          <a:xfrm>
            <a:off x="6631200" y="64051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2F8B64FE-DEB0-4EEB-8F83-04B911146713}" type="slidenum">
              <a:rPr lang="en-US" sz="1200" strike="noStrike">
                <a:solidFill>
                  <a:srgbClr val="8B8B8B"/>
                </a:solidFill>
                <a:latin typeface="Arial"/>
              </a:rPr>
              <a:t>4</a:t>
            </a:fld>
            <a:endParaRPr/>
          </a:p>
        </p:txBody>
      </p:sp>
      <p:sp>
        <p:nvSpPr>
          <p:cNvPr id="95" name="TextShape 5"/>
          <p:cNvSpPr txBox="1"/>
          <p:nvPr/>
        </p:nvSpPr>
        <p:spPr>
          <a:xfrm>
            <a:off x="3200400" y="4222440"/>
            <a:ext cx="2560320" cy="715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3000" dirty="0">
                <a:latin typeface="Arial"/>
              </a:rPr>
              <a:t>Localizations</a:t>
            </a:r>
            <a:endParaRPr dirty="0"/>
          </a:p>
        </p:txBody>
      </p:sp>
      <p:pic>
        <p:nvPicPr>
          <p:cNvPr id="96" name="Picture 95"/>
          <p:cNvPicPr/>
          <p:nvPr/>
        </p:nvPicPr>
        <p:blipFill>
          <a:blip r:embed="rId2"/>
          <a:stretch/>
        </p:blipFill>
        <p:spPr>
          <a:xfrm>
            <a:off x="3048000" y="3639060"/>
            <a:ext cx="2468880" cy="1819800"/>
          </a:xfrm>
          <a:prstGeom prst="rect">
            <a:avLst/>
          </a:prstGeom>
          <a:ln>
            <a:noFill/>
          </a:ln>
        </p:spPr>
      </p:pic>
      <p:sp>
        <p:nvSpPr>
          <p:cNvPr id="97" name="TextShape 6"/>
          <p:cNvSpPr txBox="1"/>
          <p:nvPr/>
        </p:nvSpPr>
        <p:spPr>
          <a:xfrm>
            <a:off x="1005840" y="3840480"/>
            <a:ext cx="1942560" cy="4867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2800" dirty="0">
                <a:latin typeface="Arial"/>
              </a:rPr>
              <a:t>Simply put: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1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0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5" grpId="1"/>
      <p:bldP spid="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457200" y="137160"/>
            <a:ext cx="8229240" cy="361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000" b="1">
                <a:latin typeface="Arial"/>
              </a:rPr>
              <a:t>Functional Overview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3200" b="1" strike="noStrike">
                <a:solidFill>
                  <a:srgbClr val="000000"/>
                </a:solidFill>
                <a:latin typeface="Arial"/>
              </a:rPr>
              <a:t>Git, Tomcat, and Degree Works</a:t>
            </a:r>
            <a:endParaRPr/>
          </a:p>
        </p:txBody>
      </p:sp>
      <p:sp>
        <p:nvSpPr>
          <p:cNvPr id="100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Advantages to using </a:t>
            </a:r>
            <a:r>
              <a:rPr lang="en-US" sz="2800" strike="noStrike" dirty="0" err="1">
                <a:solidFill>
                  <a:srgbClr val="000000"/>
                </a:solidFill>
                <a:latin typeface="Arial"/>
              </a:rPr>
              <a:t>Git</a:t>
            </a: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 with Tomcat </a:t>
            </a: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files</a:t>
            </a:r>
            <a:endParaRPr lang="en-US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localizations </a:t>
            </a: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can be tracked and restored if </a:t>
            </a: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overwritten</a:t>
            </a:r>
            <a:endParaRPr lang="en-US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upgrades </a:t>
            </a: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are easier to manage through branching and </a:t>
            </a: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merging</a:t>
            </a:r>
            <a:endParaRPr lang="en-US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similar </a:t>
            </a: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to </a:t>
            </a:r>
            <a:r>
              <a:rPr lang="en-US" sz="2800" strike="noStrike" dirty="0" err="1">
                <a:solidFill>
                  <a:srgbClr val="000000"/>
                </a:solidFill>
                <a:latin typeface="Arial"/>
              </a:rPr>
              <a:t>Git</a:t>
            </a: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 work flow used when localizing Banner XE</a:t>
            </a:r>
            <a:endParaRPr dirty="0"/>
          </a:p>
        </p:txBody>
      </p:sp>
      <p:sp>
        <p:nvSpPr>
          <p:cNvPr id="101" name="TextShape 3"/>
          <p:cNvSpPr txBox="1"/>
          <p:nvPr/>
        </p:nvSpPr>
        <p:spPr>
          <a:xfrm>
            <a:off x="6631200" y="64051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5C1BC386-B02F-4670-8EC0-786477D9EE72}" type="slidenum">
              <a:rPr lang="en-US" sz="1200" strike="noStrike">
                <a:solidFill>
                  <a:srgbClr val="8B8B8B"/>
                </a:solidFill>
                <a:latin typeface="Arial"/>
              </a:rPr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3200" b="1" strike="noStrike">
                <a:solidFill>
                  <a:srgbClr val="000000"/>
                </a:solidFill>
                <a:latin typeface="Arial"/>
              </a:rPr>
              <a:t>Git, Tomcat, and Degree Works</a:t>
            </a:r>
            <a:endParaRPr/>
          </a:p>
        </p:txBody>
      </p:sp>
      <p:sp>
        <p:nvSpPr>
          <p:cNvPr id="103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For </a:t>
            </a:r>
            <a:r>
              <a:rPr lang="en-US" sz="2800" strike="noStrike" dirty="0" err="1">
                <a:solidFill>
                  <a:srgbClr val="000000"/>
                </a:solidFill>
                <a:latin typeface="Arial"/>
              </a:rPr>
              <a:t>Git</a:t>
            </a: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 to work, files must be stored under </a:t>
            </a: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one main </a:t>
            </a: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directory.</a:t>
            </a:r>
            <a:endParaRPr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If your setup is anything like ours, your Tomcat files are in a completely separate directory.</a:t>
            </a:r>
            <a:endParaRPr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We must trick Tomcat into thinking it is working with its own files, but store them in our Degree Works </a:t>
            </a:r>
            <a:r>
              <a:rPr lang="en-US" sz="2800" strike="noStrike" dirty="0" err="1">
                <a:solidFill>
                  <a:srgbClr val="000000"/>
                </a:solidFill>
                <a:latin typeface="Arial"/>
              </a:rPr>
              <a:t>Git</a:t>
            </a: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 folder.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3200" b="1" strike="noStrike">
                <a:solidFill>
                  <a:srgbClr val="000000"/>
                </a:solidFill>
                <a:latin typeface="Arial"/>
              </a:rPr>
              <a:t>For the Visual Learners</a:t>
            </a:r>
            <a:endParaRPr/>
          </a:p>
        </p:txBody>
      </p:sp>
      <p:cxnSp>
        <p:nvCxnSpPr>
          <p:cNvPr id="105" name="Line 2"/>
          <p:cNvCxnSpPr>
            <a:stCxn id="1026" idx="2"/>
          </p:cNvCxnSpPr>
          <p:nvPr/>
        </p:nvCxnSpPr>
        <p:spPr>
          <a:xfrm rot="16200000" flipH="1">
            <a:off x="1089136" y="3281910"/>
            <a:ext cx="388440" cy="177206"/>
          </a:xfrm>
          <a:prstGeom prst="bentConnector3">
            <a:avLst>
              <a:gd name="adj1" fmla="val 50000"/>
            </a:avLst>
          </a:prstGeom>
          <a:ln>
            <a:solidFill>
              <a:srgbClr val="3465A4"/>
            </a:solidFill>
          </a:ln>
        </p:spPr>
      </p:cxnSp>
      <p:cxnSp>
        <p:nvCxnSpPr>
          <p:cNvPr id="106" name="Line 3"/>
          <p:cNvCxnSpPr>
            <a:stCxn id="14" idx="2"/>
          </p:cNvCxnSpPr>
          <p:nvPr/>
        </p:nvCxnSpPr>
        <p:spPr>
          <a:xfrm rot="16200000" flipH="1">
            <a:off x="6412094" y="3303910"/>
            <a:ext cx="358772" cy="228960"/>
          </a:xfrm>
          <a:prstGeom prst="bentConnector3">
            <a:avLst/>
          </a:prstGeom>
          <a:ln>
            <a:solidFill>
              <a:srgbClr val="3465A4"/>
            </a:solidFill>
          </a:ln>
        </p:spPr>
      </p:cxnSp>
      <p:cxnSp>
        <p:nvCxnSpPr>
          <p:cNvPr id="107" name="Line 4" title="Symbolic Link"/>
          <p:cNvCxnSpPr>
            <a:stCxn id="17" idx="3"/>
          </p:cNvCxnSpPr>
          <p:nvPr/>
        </p:nvCxnSpPr>
        <p:spPr>
          <a:xfrm flipV="1">
            <a:off x="2209799" y="3802248"/>
            <a:ext cx="3663633" cy="192418"/>
          </a:xfrm>
          <a:prstGeom prst="bentConnector3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pic>
        <p:nvPicPr>
          <p:cNvPr id="1026" name="Picture 2" descr="C:\Users\rhunt.SGC\Pictures\clipart\folder_yellow.png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05" y="1908198"/>
            <a:ext cx="1268095" cy="126809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38560" y="2403745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Tomcat</a:t>
            </a:r>
            <a:endParaRPr lang="en-US" dirty="0"/>
          </a:p>
        </p:txBody>
      </p:sp>
      <p:pic>
        <p:nvPicPr>
          <p:cNvPr id="14" name="Picture 2" descr="C:\Users\rhunt.SGC\Pictures\clipart\folder_yellow.png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952" y="1970909"/>
            <a:ext cx="1268095" cy="126809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5873432" y="2342859"/>
            <a:ext cx="1668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Degree Works Project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761386" y="3299890"/>
            <a:ext cx="1448413" cy="1268095"/>
            <a:chOff x="761386" y="3299890"/>
            <a:chExt cx="1448413" cy="1268095"/>
          </a:xfrm>
        </p:grpSpPr>
        <p:pic>
          <p:nvPicPr>
            <p:cNvPr id="12" name="Picture 2" descr="C:\Users\rhunt.SGC\Pictures\clipart\folder_yellow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386" y="3299890"/>
              <a:ext cx="1268095" cy="1268095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/>
            <p:cNvSpPr txBox="1"/>
            <p:nvPr/>
          </p:nvSpPr>
          <p:spPr>
            <a:xfrm>
              <a:off x="991572" y="3810000"/>
              <a:ext cx="1218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webapps</a:t>
              </a:r>
              <a:endParaRPr 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61386" y="3292138"/>
            <a:ext cx="1448413" cy="1268095"/>
            <a:chOff x="761386" y="3299890"/>
            <a:chExt cx="1448413" cy="1268095"/>
          </a:xfrm>
        </p:grpSpPr>
        <p:pic>
          <p:nvPicPr>
            <p:cNvPr id="21" name="Picture 2" descr="C:\Users\rhunt.SGC\Pictures\clipart\folder_yellow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2000" contras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386" y="3299890"/>
              <a:ext cx="1268095" cy="1268095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/>
            <p:cNvSpPr txBox="1"/>
            <p:nvPr/>
          </p:nvSpPr>
          <p:spPr>
            <a:xfrm>
              <a:off x="991572" y="3810000"/>
              <a:ext cx="1218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webapps</a:t>
              </a:r>
              <a:endParaRPr lang="en-US"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3124200" y="3107472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Symbolic Link</a:t>
            </a:r>
            <a:endParaRPr lang="en-US" dirty="0"/>
          </a:p>
        </p:txBody>
      </p:sp>
      <p:cxnSp>
        <p:nvCxnSpPr>
          <p:cNvPr id="23" name="Straight Arrow Connector 22"/>
          <p:cNvCxnSpPr>
            <a:stCxn id="18" idx="2"/>
          </p:cNvCxnSpPr>
          <p:nvPr/>
        </p:nvCxnSpPr>
        <p:spPr>
          <a:xfrm>
            <a:off x="3928267" y="3476804"/>
            <a:ext cx="224632" cy="3331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1.11111E-6 L 0.5625 -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7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7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7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3200" b="1" strike="noStrike">
                <a:solidFill>
                  <a:srgbClr val="000000"/>
                </a:solidFill>
                <a:latin typeface="Arial"/>
              </a:rPr>
              <a:t>Ultimately We Want to Go from This:</a:t>
            </a:r>
            <a:endParaRPr/>
          </a:p>
        </p:txBody>
      </p:sp>
      <p:sp>
        <p:nvSpPr>
          <p:cNvPr id="109" name="CustomShape 2"/>
          <p:cNvSpPr/>
          <p:nvPr/>
        </p:nvSpPr>
        <p:spPr>
          <a:xfrm>
            <a:off x="2025720" y="5898960"/>
            <a:ext cx="184320" cy="36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0" name="TextShape 3"/>
          <p:cNvSpPr txBox="1"/>
          <p:nvPr/>
        </p:nvSpPr>
        <p:spPr>
          <a:xfrm>
            <a:off x="6631200" y="64051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F942016F-EAD8-487A-929A-E0672251769A}" type="slidenum">
              <a:rPr lang="en-US" sz="1200" strike="noStrike">
                <a:solidFill>
                  <a:srgbClr val="8B8B8B"/>
                </a:solidFill>
                <a:latin typeface="Arial"/>
              </a:rPr>
              <a:t>9</a:t>
            </a:fld>
            <a:endParaRPr/>
          </a:p>
        </p:txBody>
      </p:sp>
      <p:pic>
        <p:nvPicPr>
          <p:cNvPr id="111" name="Picture 110"/>
          <p:cNvPicPr/>
          <p:nvPr/>
        </p:nvPicPr>
        <p:blipFill>
          <a:blip r:embed="rId2"/>
          <a:stretch/>
        </p:blipFill>
        <p:spPr>
          <a:xfrm>
            <a:off x="183240" y="735840"/>
            <a:ext cx="8777880" cy="5582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3200" b="1">
                <a:latin typeface="Arial"/>
              </a:rPr>
              <a:t>To This:</a:t>
            </a:r>
            <a:endParaRPr/>
          </a:p>
        </p:txBody>
      </p:sp>
      <p:sp>
        <p:nvSpPr>
          <p:cNvPr id="113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CustomShape 3"/>
          <p:cNvSpPr/>
          <p:nvPr/>
        </p:nvSpPr>
        <p:spPr>
          <a:xfrm>
            <a:off x="2025720" y="5898960"/>
            <a:ext cx="184320" cy="36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5" name="TextShape 4"/>
          <p:cNvSpPr txBox="1"/>
          <p:nvPr/>
        </p:nvSpPr>
        <p:spPr>
          <a:xfrm>
            <a:off x="6631200" y="64051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62DD9C2A-1285-49C1-977F-38EA7E32B08A}" type="slidenum">
              <a:rPr lang="en-US" sz="1200" strike="noStrike">
                <a:solidFill>
                  <a:srgbClr val="8B8B8B"/>
                </a:solidFill>
                <a:latin typeface="Arial"/>
              </a:rPr>
              <a:t>10</a:t>
            </a:fld>
            <a:endParaRPr/>
          </a:p>
        </p:txBody>
      </p:sp>
      <p:pic>
        <p:nvPicPr>
          <p:cNvPr id="116" name="Picture 115"/>
          <p:cNvPicPr/>
          <p:nvPr/>
        </p:nvPicPr>
        <p:blipFill>
          <a:blip r:embed="rId2"/>
          <a:stretch/>
        </p:blipFill>
        <p:spPr>
          <a:xfrm>
            <a:off x="183240" y="735840"/>
            <a:ext cx="8777880" cy="5582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Shape 1"/>
          <p:cNvSpPr txBox="1"/>
          <p:nvPr/>
        </p:nvSpPr>
        <p:spPr>
          <a:xfrm>
            <a:off x="457200" y="137160"/>
            <a:ext cx="8229240" cy="361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800" b="1">
                <a:latin typeface="Arial"/>
              </a:rPr>
              <a:t>Technical Stuff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3200" b="1" strike="noStrike">
                <a:solidFill>
                  <a:srgbClr val="000000"/>
                </a:solidFill>
                <a:latin typeface="Arial"/>
              </a:rPr>
              <a:t>Creating the Symbolic Link</a:t>
            </a:r>
            <a:endParaRPr/>
          </a:p>
        </p:txBody>
      </p:sp>
      <p:sp>
        <p:nvSpPr>
          <p:cNvPr id="119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 strike="noStrike">
                <a:solidFill>
                  <a:srgbClr val="000000"/>
                </a:solidFill>
                <a:latin typeface="Arial"/>
              </a:rPr>
              <a:t>Force Tomcat to follow symbolic links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500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lang="en-US" sz="2500" b="1" strike="noStrike">
                <a:solidFill>
                  <a:srgbClr val="953735"/>
                </a:solidFill>
                <a:latin typeface="Arial"/>
              </a:rPr>
              <a:t>$CATALINA_HOME/conf/context.xml</a:t>
            </a:r>
            <a:r>
              <a:rPr lang="en-US" sz="2500" b="1" strike="noStrike">
                <a:solidFill>
                  <a:srgbClr val="FF0000"/>
                </a:solidFill>
                <a:latin typeface="Arial"/>
              </a:rPr>
              <a:t> 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500" strike="noStrike">
                <a:solidFill>
                  <a:srgbClr val="000000"/>
                </a:solidFill>
                <a:latin typeface="Arial"/>
              </a:rPr>
              <a:t>Add </a:t>
            </a:r>
            <a:r>
              <a:rPr lang="en-US" sz="2500" strike="noStrike">
                <a:solidFill>
                  <a:srgbClr val="953735"/>
                </a:solidFill>
                <a:latin typeface="Arial"/>
              </a:rPr>
              <a:t>allowLinking="true"</a:t>
            </a:r>
            <a:r>
              <a:rPr lang="en-US" sz="2500" strike="noStrike">
                <a:solidFill>
                  <a:srgbClr val="000000"/>
                </a:solidFill>
                <a:latin typeface="Arial"/>
              </a:rPr>
              <a:t> to the Context tag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000" b="1" strike="noStrike">
                <a:solidFill>
                  <a:srgbClr val="000000"/>
                </a:solidFill>
                <a:latin typeface="Courier New"/>
              </a:rPr>
              <a:t>&lt;Context </a:t>
            </a:r>
            <a:r>
              <a:rPr lang="en-US" sz="2000" b="1" strike="noStrike">
                <a:solidFill>
                  <a:srgbClr val="953735"/>
                </a:solidFill>
                <a:latin typeface="Courier New"/>
              </a:rPr>
              <a:t>allowLinking="true"</a:t>
            </a:r>
            <a:r>
              <a:rPr lang="en-US" sz="2000" b="1" strike="noStrike">
                <a:solidFill>
                  <a:srgbClr val="000000"/>
                </a:solidFill>
                <a:latin typeface="Courier New"/>
              </a:rPr>
              <a:t>&gt;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 strike="noStrike">
                <a:solidFill>
                  <a:srgbClr val="000000"/>
                </a:solidFill>
                <a:latin typeface="Arial"/>
              </a:rPr>
              <a:t>Stop Tomcat, so you can move directories and create symlinks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000" b="1" strike="noStrike">
                <a:solidFill>
                  <a:srgbClr val="953735"/>
                </a:solidFill>
                <a:latin typeface="Courier New"/>
              </a:rPr>
              <a:t>#sudo service tomcat stop</a:t>
            </a:r>
            <a:endParaRPr/>
          </a:p>
        </p:txBody>
      </p:sp>
      <p:sp>
        <p:nvSpPr>
          <p:cNvPr id="120" name="TextShape 3"/>
          <p:cNvSpPr txBox="1"/>
          <p:nvPr/>
        </p:nvSpPr>
        <p:spPr>
          <a:xfrm>
            <a:off x="6631200" y="64051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B2E42C2C-ACB8-4BBC-A741-35EBCA0A22DF}" type="slidenum">
              <a:rPr lang="en-US" sz="1200" strike="noStrike">
                <a:solidFill>
                  <a:srgbClr val="8B8B8B"/>
                </a:solidFill>
                <a:latin typeface="Arial"/>
              </a:rPr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3200" b="1" strike="noStrike">
                <a:solidFill>
                  <a:srgbClr val="000000"/>
                </a:solidFill>
                <a:latin typeface="Arial"/>
              </a:rPr>
              <a:t>Creating the Symbolic Link</a:t>
            </a:r>
            <a:endParaRPr/>
          </a:p>
        </p:txBody>
      </p:sp>
      <p:sp>
        <p:nvSpPr>
          <p:cNvPr id="122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 strike="noStrike">
                <a:solidFill>
                  <a:srgbClr val="000000"/>
                </a:solidFill>
                <a:latin typeface="Arial"/>
              </a:rPr>
              <a:t>Move the webapps directory in Tomcat to wherever you plan on tracking it in Git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800" strike="noStrike">
                <a:solidFill>
                  <a:srgbClr val="000000"/>
                </a:solidFill>
                <a:latin typeface="Arial"/>
              </a:rPr>
              <a:t>webapps will likely be owned by root, so…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000" b="1" strike="noStrike">
                <a:solidFill>
                  <a:srgbClr val="953735"/>
                </a:solidFill>
                <a:latin typeface="Courier New"/>
              </a:rPr>
              <a:t>#sudo mv $CATALINA_HOME/webapps {degreeworks_dir}/tomcat/webapps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000" b="1" strike="noStrike">
                <a:solidFill>
                  <a:srgbClr val="953735"/>
                </a:solidFill>
                <a:latin typeface="Courier New"/>
              </a:rPr>
              <a:t>#sudo chown -R {dwuser}:{dwgroup} {degreeworks_dir}/tomcat/webapps</a:t>
            </a:r>
            <a:endParaRPr/>
          </a:p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3200" b="1" strike="noStrike">
                <a:solidFill>
                  <a:srgbClr val="000000"/>
                </a:solidFill>
                <a:latin typeface="Arial"/>
              </a:rPr>
              <a:t>Creating the Symbolic Link</a:t>
            </a:r>
            <a:endParaRPr/>
          </a:p>
        </p:txBody>
      </p:sp>
      <p:sp>
        <p:nvSpPr>
          <p:cNvPr id="124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Create a symbolic link in the original location and point it to the new </a:t>
            </a: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location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strike="noStrike" dirty="0" smtClean="0">
                <a:solidFill>
                  <a:srgbClr val="953735"/>
                </a:solidFill>
                <a:latin typeface="Courier New"/>
              </a:rPr>
              <a:t>#</a:t>
            </a:r>
            <a:r>
              <a:rPr lang="en-US" sz="2000" b="1" strike="noStrike" dirty="0" err="1" smtClean="0">
                <a:solidFill>
                  <a:srgbClr val="953735"/>
                </a:solidFill>
                <a:latin typeface="Courier New"/>
              </a:rPr>
              <a:t>sudo</a:t>
            </a:r>
            <a:r>
              <a:rPr lang="en-US" sz="2000" b="1" strike="noStrike" dirty="0" smtClean="0">
                <a:solidFill>
                  <a:srgbClr val="953735"/>
                </a:solidFill>
                <a:latin typeface="Courier New"/>
              </a:rPr>
              <a:t> </a:t>
            </a:r>
            <a:r>
              <a:rPr lang="en-US" sz="2000" b="1" strike="noStrike" dirty="0">
                <a:solidFill>
                  <a:srgbClr val="953735"/>
                </a:solidFill>
                <a:latin typeface="Courier New"/>
              </a:rPr>
              <a:t>ln -s {</a:t>
            </a:r>
            <a:r>
              <a:rPr lang="en-US" sz="2000" b="1" strike="noStrike" dirty="0" err="1">
                <a:solidFill>
                  <a:srgbClr val="953735"/>
                </a:solidFill>
                <a:latin typeface="Courier New"/>
              </a:rPr>
              <a:t>degreeworks_dir</a:t>
            </a:r>
            <a:r>
              <a:rPr lang="en-US" sz="2000" b="1" strike="noStrike" dirty="0">
                <a:solidFill>
                  <a:srgbClr val="953735"/>
                </a:solidFill>
                <a:latin typeface="Courier New"/>
              </a:rPr>
              <a:t>}/tomcat/</a:t>
            </a:r>
            <a:r>
              <a:rPr lang="en-US" sz="2000" b="1" strike="noStrike" dirty="0" err="1">
                <a:solidFill>
                  <a:srgbClr val="953735"/>
                </a:solidFill>
                <a:latin typeface="Courier New"/>
              </a:rPr>
              <a:t>webapps</a:t>
            </a:r>
            <a:r>
              <a:rPr lang="en-US" sz="2000" b="1" strike="noStrike" dirty="0">
                <a:solidFill>
                  <a:srgbClr val="953735"/>
                </a:solidFill>
                <a:latin typeface="Courier New"/>
              </a:rPr>
              <a:t> $CATALINA_HOME/</a:t>
            </a:r>
            <a:r>
              <a:rPr lang="en-US" sz="2000" b="1" strike="noStrike" dirty="0" err="1">
                <a:solidFill>
                  <a:srgbClr val="953735"/>
                </a:solidFill>
                <a:latin typeface="Courier New"/>
              </a:rPr>
              <a:t>webapps</a:t>
            </a:r>
            <a:endParaRPr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Bring Tomcat back </a:t>
            </a: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up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strike="noStrike" dirty="0" smtClean="0">
                <a:solidFill>
                  <a:srgbClr val="953735"/>
                </a:solidFill>
                <a:latin typeface="Courier New"/>
              </a:rPr>
              <a:t>#</a:t>
            </a:r>
            <a:r>
              <a:rPr lang="en-US" sz="2000" b="1" strike="noStrike" dirty="0" err="1" smtClean="0">
                <a:solidFill>
                  <a:srgbClr val="953735"/>
                </a:solidFill>
                <a:latin typeface="Courier New"/>
              </a:rPr>
              <a:t>sudo</a:t>
            </a:r>
            <a:r>
              <a:rPr lang="en-US" sz="2000" b="1" strike="noStrike" dirty="0" smtClean="0">
                <a:solidFill>
                  <a:srgbClr val="953735"/>
                </a:solidFill>
                <a:latin typeface="Courier New"/>
              </a:rPr>
              <a:t> </a:t>
            </a:r>
            <a:r>
              <a:rPr lang="en-US" sz="2000" b="1" strike="noStrike" dirty="0">
                <a:solidFill>
                  <a:srgbClr val="953735"/>
                </a:solidFill>
                <a:latin typeface="Courier New"/>
              </a:rPr>
              <a:t>service tomcat </a:t>
            </a:r>
            <a:r>
              <a:rPr lang="en-US" sz="2000" b="1" strike="noStrike" dirty="0" smtClean="0">
                <a:solidFill>
                  <a:srgbClr val="953735"/>
                </a:solidFill>
                <a:latin typeface="Courier New"/>
              </a:rPr>
              <a:t>start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Tomcat </a:t>
            </a: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should start up like nothing has been </a:t>
            </a: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changed.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Test </a:t>
            </a: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your SEP to make sure it's still </a:t>
            </a: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working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trike="noStrike" dirty="0" smtClean="0">
                <a:solidFill>
                  <a:srgbClr val="000000"/>
                </a:solidFill>
                <a:latin typeface="Arial"/>
              </a:rPr>
              <a:t>You </a:t>
            </a:r>
            <a:r>
              <a:rPr lang="en-US" sz="2800" strike="noStrike" dirty="0">
                <a:solidFill>
                  <a:srgbClr val="000000"/>
                </a:solidFill>
                <a:latin typeface="Arial"/>
              </a:rPr>
              <a:t>are now ready to start localizing</a:t>
            </a:r>
            <a:endParaRPr dirty="0"/>
          </a:p>
        </p:txBody>
      </p:sp>
      <p:sp>
        <p:nvSpPr>
          <p:cNvPr id="125" name="TextShape 3"/>
          <p:cNvSpPr txBox="1"/>
          <p:nvPr/>
        </p:nvSpPr>
        <p:spPr>
          <a:xfrm>
            <a:off x="6631200" y="64051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F14C00F3-E8A1-4E8B-83D3-E15866AE0F7C}" type="slidenum">
              <a:rPr lang="en-US" sz="1200" strike="noStrike">
                <a:solidFill>
                  <a:srgbClr val="8B8B8B"/>
                </a:solidFill>
                <a:latin typeface="Arial"/>
              </a:rPr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latin typeface="Arial"/>
              </a:rPr>
              <a:t>Localizing With Git</a:t>
            </a:r>
            <a:endParaRPr/>
          </a:p>
        </p:txBody>
      </p:sp>
      <p:sp>
        <p:nvSpPr>
          <p:cNvPr id="127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</a:rPr>
              <a:t>As you start finding files that need localizing, I recommend adding them to your </a:t>
            </a:r>
            <a:r>
              <a:rPr lang="en-US" sz="2800" dirty="0">
                <a:solidFill>
                  <a:srgbClr val="800000"/>
                </a:solidFill>
                <a:latin typeface="Arial"/>
              </a:rPr>
              <a:t>baseline branch</a:t>
            </a:r>
            <a:r>
              <a:rPr lang="en-US" sz="2800" dirty="0">
                <a:latin typeface="Arial"/>
              </a:rPr>
              <a:t> in </a:t>
            </a:r>
            <a:r>
              <a:rPr lang="en-US" sz="2800" dirty="0" err="1">
                <a:latin typeface="Arial"/>
              </a:rPr>
              <a:t>Git</a:t>
            </a:r>
            <a:r>
              <a:rPr lang="en-US" sz="2800" dirty="0">
                <a:latin typeface="Arial"/>
              </a:rPr>
              <a:t> before modifying </a:t>
            </a:r>
            <a:r>
              <a:rPr lang="en-US" sz="2800" dirty="0" smtClean="0">
                <a:latin typeface="Arial"/>
              </a:rPr>
              <a:t>them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/>
              </a:rPr>
              <a:t>Commit </a:t>
            </a:r>
            <a:r>
              <a:rPr lang="en-US" sz="2800" dirty="0">
                <a:latin typeface="Arial"/>
              </a:rPr>
              <a:t>your localizations to your </a:t>
            </a:r>
            <a:r>
              <a:rPr lang="en-US" sz="2800" dirty="0">
                <a:solidFill>
                  <a:srgbClr val="800000"/>
                </a:solidFill>
                <a:latin typeface="Arial"/>
              </a:rPr>
              <a:t>local </a:t>
            </a:r>
            <a:r>
              <a:rPr lang="en-US" sz="2800" dirty="0" smtClean="0">
                <a:solidFill>
                  <a:srgbClr val="800000"/>
                </a:solidFill>
                <a:latin typeface="Arial"/>
              </a:rPr>
              <a:t>branch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/>
              </a:rPr>
              <a:t>Not </a:t>
            </a:r>
            <a:r>
              <a:rPr lang="en-US" sz="2800" dirty="0">
                <a:latin typeface="Arial"/>
              </a:rPr>
              <a:t>only will this make upgrades easier to deal with (using </a:t>
            </a:r>
            <a:r>
              <a:rPr lang="en-US" sz="2800" dirty="0" err="1">
                <a:latin typeface="Arial"/>
              </a:rPr>
              <a:t>Git</a:t>
            </a:r>
            <a:r>
              <a:rPr lang="en-US" sz="2800" dirty="0">
                <a:latin typeface="Arial"/>
              </a:rPr>
              <a:t> merge process from baseline to local), but you will also be able to switch between the two at a moment's </a:t>
            </a:r>
            <a:r>
              <a:rPr lang="en-US" sz="2800" dirty="0" smtClean="0">
                <a:latin typeface="Arial"/>
              </a:rPr>
              <a:t>notice.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/>
              </a:rPr>
              <a:t>Impress </a:t>
            </a:r>
            <a:r>
              <a:rPr lang="en-US" sz="2800" dirty="0">
                <a:latin typeface="Arial"/>
              </a:rPr>
              <a:t>your friends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latin typeface="Arial"/>
              </a:rPr>
              <a:t>Permissions Issues</a:t>
            </a:r>
            <a:endParaRPr/>
          </a:p>
        </p:txBody>
      </p:sp>
      <p:sp>
        <p:nvSpPr>
          <p:cNvPr id="129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</a:rPr>
              <a:t>Whenever Tomcat deploys a WAR file, the newly created directory is owned by </a:t>
            </a:r>
            <a:r>
              <a:rPr lang="en-US" sz="2800" dirty="0" smtClean="0">
                <a:solidFill>
                  <a:srgbClr val="800000"/>
                </a:solidFill>
                <a:latin typeface="Arial"/>
              </a:rPr>
              <a:t>root</a:t>
            </a:r>
            <a:endParaRPr lang="en-US" dirty="0"/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/>
              </a:rPr>
              <a:t>Any </a:t>
            </a:r>
            <a:r>
              <a:rPr lang="en-US" sz="2800" dirty="0">
                <a:latin typeface="Arial"/>
              </a:rPr>
              <a:t>time you re-deploy the SEP, you </a:t>
            </a:r>
            <a:r>
              <a:rPr lang="en-US" sz="2800" i="1" dirty="0">
                <a:latin typeface="Arial"/>
              </a:rPr>
              <a:t>must</a:t>
            </a:r>
            <a:r>
              <a:rPr lang="en-US" sz="2800" dirty="0">
                <a:latin typeface="Arial"/>
              </a:rPr>
              <a:t> change ownership of the whole directory back to your degree works administrator </a:t>
            </a:r>
            <a:r>
              <a:rPr lang="en-US" sz="2800" dirty="0" smtClean="0">
                <a:latin typeface="Arial"/>
              </a:rPr>
              <a:t>account</a:t>
            </a:r>
            <a:endParaRPr lang="en-US" dirty="0"/>
          </a:p>
          <a:p>
            <a:pPr marL="914400" lvl="1" indent="-457200">
              <a:buSzPct val="100000"/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800000"/>
                </a:solidFill>
                <a:latin typeface="Arial"/>
              </a:rPr>
              <a:t>#</a:t>
            </a:r>
            <a:r>
              <a:rPr lang="en-US" sz="2400" dirty="0" err="1" smtClean="0">
                <a:solidFill>
                  <a:srgbClr val="800000"/>
                </a:solidFill>
                <a:latin typeface="Arial"/>
              </a:rPr>
              <a:t>sudo</a:t>
            </a:r>
            <a:r>
              <a:rPr lang="en-US" sz="2400" dirty="0" smtClean="0">
                <a:solidFill>
                  <a:srgbClr val="800000"/>
                </a:solidFill>
                <a:latin typeface="Arial"/>
              </a:rPr>
              <a:t> </a:t>
            </a:r>
            <a:r>
              <a:rPr lang="en-US" sz="2400" dirty="0" err="1">
                <a:solidFill>
                  <a:srgbClr val="800000"/>
                </a:solidFill>
                <a:latin typeface="Arial"/>
              </a:rPr>
              <a:t>chown</a:t>
            </a:r>
            <a:r>
              <a:rPr lang="en-US" sz="2400" dirty="0">
                <a:solidFill>
                  <a:srgbClr val="800000"/>
                </a:solidFill>
                <a:latin typeface="Arial"/>
              </a:rPr>
              <a:t> -R {</a:t>
            </a:r>
            <a:r>
              <a:rPr lang="en-US" sz="2400" dirty="0" err="1">
                <a:solidFill>
                  <a:srgbClr val="800000"/>
                </a:solidFill>
                <a:latin typeface="Arial"/>
              </a:rPr>
              <a:t>dwuser</a:t>
            </a:r>
            <a:r>
              <a:rPr lang="en-US" sz="2400" dirty="0">
                <a:solidFill>
                  <a:srgbClr val="800000"/>
                </a:solidFill>
                <a:latin typeface="Arial"/>
              </a:rPr>
              <a:t>}:{</a:t>
            </a:r>
            <a:r>
              <a:rPr lang="en-US" sz="2400" dirty="0" err="1">
                <a:solidFill>
                  <a:srgbClr val="800000"/>
                </a:solidFill>
                <a:latin typeface="Arial"/>
              </a:rPr>
              <a:t>dwgroup</a:t>
            </a:r>
            <a:r>
              <a:rPr lang="en-US" sz="2400" dirty="0">
                <a:solidFill>
                  <a:srgbClr val="800000"/>
                </a:solidFill>
                <a:latin typeface="Arial"/>
              </a:rPr>
              <a:t>} </a:t>
            </a:r>
            <a:r>
              <a:rPr lang="en-US" sz="2400" dirty="0" smtClean="0">
                <a:solidFill>
                  <a:srgbClr val="800000"/>
                </a:solidFill>
                <a:latin typeface="Arial"/>
              </a:rPr>
              <a:t>plans</a:t>
            </a:r>
            <a:endParaRPr lang="en-US" dirty="0"/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</a:rPr>
              <a:t>Otherwise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, nothing in the SEP app folder will be writable; you will not be able to modify anything, and </a:t>
            </a:r>
            <a:r>
              <a:rPr lang="en-US" sz="2800" dirty="0" err="1">
                <a:solidFill>
                  <a:srgbClr val="000000"/>
                </a:solidFill>
                <a:latin typeface="Arial"/>
              </a:rPr>
              <a:t>Git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 will have a tough time helping you out.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latin typeface="Arial"/>
              </a:rPr>
              <a:t>Localizing CSS</a:t>
            </a:r>
            <a:endParaRPr/>
          </a:p>
        </p:txBody>
      </p:sp>
      <p:sp>
        <p:nvSpPr>
          <p:cNvPr id="131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</a:rPr>
              <a:t>There are a few CSS files to keep in </a:t>
            </a:r>
            <a:r>
              <a:rPr lang="en-US" sz="2800" dirty="0" smtClean="0">
                <a:latin typeface="Arial"/>
              </a:rPr>
              <a:t>mind</a:t>
            </a:r>
            <a:endParaRPr lang="en-US" dirty="0"/>
          </a:p>
          <a:p>
            <a:pPr marL="914400" lvl="1" indent="-457200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rgbClr val="953735"/>
                </a:solidFill>
                <a:latin typeface="Courier New"/>
              </a:rPr>
              <a:t>css</a:t>
            </a:r>
            <a:r>
              <a:rPr lang="en-US" sz="2000" b="1" dirty="0" smtClean="0">
                <a:solidFill>
                  <a:srgbClr val="953735"/>
                </a:solidFill>
                <a:latin typeface="Courier New"/>
              </a:rPr>
              <a:t>/styles-student-planner.css.dsp</a:t>
            </a:r>
            <a:endParaRPr lang="en-US" dirty="0"/>
          </a:p>
          <a:p>
            <a:pPr marL="1371600" lvl="2" indent="-457200">
              <a:buSzPct val="1000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/>
              </a:rPr>
              <a:t>Majority </a:t>
            </a:r>
            <a:r>
              <a:rPr lang="en-US" sz="2000" dirty="0">
                <a:latin typeface="Arial"/>
              </a:rPr>
              <a:t>of changes can go </a:t>
            </a:r>
            <a:r>
              <a:rPr lang="en-US" sz="2000" dirty="0" smtClean="0">
                <a:latin typeface="Arial"/>
              </a:rPr>
              <a:t>here</a:t>
            </a:r>
            <a:endParaRPr lang="en-US" dirty="0"/>
          </a:p>
          <a:p>
            <a:pPr marL="914400" lvl="1" indent="-457200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rgbClr val="953735"/>
                </a:solidFill>
                <a:latin typeface="Courier New"/>
              </a:rPr>
              <a:t>css</a:t>
            </a:r>
            <a:r>
              <a:rPr lang="en-US" sz="2000" b="1" dirty="0" smtClean="0">
                <a:solidFill>
                  <a:srgbClr val="953735"/>
                </a:solidFill>
                <a:latin typeface="Courier New"/>
              </a:rPr>
              <a:t>/styles.css</a:t>
            </a:r>
            <a:endParaRPr lang="en-US" dirty="0"/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/>
              </a:rPr>
              <a:t>ZK </a:t>
            </a:r>
            <a:r>
              <a:rPr lang="en-US" sz="2800" dirty="0">
                <a:latin typeface="Arial"/>
              </a:rPr>
              <a:t>framework styles (</a:t>
            </a:r>
            <a:r>
              <a:rPr lang="en-US" sz="2800" dirty="0" err="1">
                <a:latin typeface="Arial"/>
              </a:rPr>
              <a:t>zk.wcs</a:t>
            </a:r>
            <a:r>
              <a:rPr lang="en-US" sz="2800" dirty="0">
                <a:latin typeface="Arial"/>
              </a:rPr>
              <a:t>) must be overridden, since they don't live anywhere on </a:t>
            </a:r>
            <a:r>
              <a:rPr lang="en-US" sz="2800" dirty="0" smtClean="0">
                <a:latin typeface="Arial"/>
              </a:rPr>
              <a:t>disk</a:t>
            </a:r>
          </a:p>
          <a:p>
            <a:pPr marL="914400" lvl="1" indent="-457200">
              <a:buSzPct val="100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/>
              </a:rPr>
              <a:t>For </a:t>
            </a:r>
            <a:r>
              <a:rPr lang="en-US" sz="2400" dirty="0">
                <a:latin typeface="Arial"/>
              </a:rPr>
              <a:t>example, the ugly mint green color in the template search </a:t>
            </a:r>
            <a:r>
              <a:rPr lang="en-US" sz="2400" dirty="0" smtClean="0">
                <a:latin typeface="Arial"/>
              </a:rPr>
              <a:t>area</a:t>
            </a:r>
            <a:endParaRPr lang="en-US" dirty="0"/>
          </a:p>
          <a:p>
            <a:pPr marL="914400" lvl="1" indent="-457200">
              <a:buSzPct val="1000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/>
              </a:rPr>
              <a:t>background-color</a:t>
            </a:r>
            <a:r>
              <a:rPr lang="en-US" sz="2000" dirty="0">
                <a:latin typeface="Arial"/>
              </a:rPr>
              <a:t>: #f7ead9 </a:t>
            </a:r>
            <a:r>
              <a:rPr lang="en-US" sz="2000" b="1" u="sng" dirty="0">
                <a:latin typeface="Arial"/>
              </a:rPr>
              <a:t>!important;</a:t>
            </a:r>
            <a:endParaRPr dirty="0"/>
          </a:p>
        </p:txBody>
      </p:sp>
      <p:pic>
        <p:nvPicPr>
          <p:cNvPr id="132" name="Picture 131"/>
          <p:cNvPicPr/>
          <p:nvPr/>
        </p:nvPicPr>
        <p:blipFill>
          <a:blip r:embed="rId2"/>
          <a:stretch/>
        </p:blipFill>
        <p:spPr>
          <a:xfrm>
            <a:off x="1483560" y="5577840"/>
            <a:ext cx="4735800" cy="685080"/>
          </a:xfrm>
          <a:prstGeom prst="rect">
            <a:avLst/>
          </a:prstGeom>
          <a:ln>
            <a:solidFill>
              <a:srgbClr val="3465A4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latin typeface="Arial"/>
              </a:rPr>
              <a:t>Localizing CSS</a:t>
            </a:r>
            <a:endParaRPr/>
          </a:p>
        </p:txBody>
      </p:sp>
      <p:sp>
        <p:nvSpPr>
          <p:cNvPr id="134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</a:rPr>
              <a:t>BTW, mint green color was one of the more difficult ones to track </a:t>
            </a:r>
            <a:r>
              <a:rPr lang="en-US" sz="2800" dirty="0" smtClean="0">
                <a:latin typeface="Arial"/>
              </a:rPr>
              <a:t>down</a:t>
            </a:r>
            <a:endParaRPr lang="en-US" dirty="0"/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/>
              </a:rPr>
              <a:t>The </a:t>
            </a:r>
            <a:r>
              <a:rPr lang="en-US" sz="2800" dirty="0">
                <a:latin typeface="Arial"/>
              </a:rPr>
              <a:t>color is part of a dynamic stylesheet, but also as an inline style in the </a:t>
            </a:r>
            <a:r>
              <a:rPr lang="en-US" sz="2800" dirty="0">
                <a:solidFill>
                  <a:srgbClr val="800000"/>
                </a:solidFill>
                <a:latin typeface="Arial"/>
              </a:rPr>
              <a:t>template/template-</a:t>
            </a:r>
            <a:r>
              <a:rPr lang="en-US" sz="2800" dirty="0" err="1">
                <a:solidFill>
                  <a:srgbClr val="800000"/>
                </a:solidFill>
                <a:latin typeface="Arial"/>
              </a:rPr>
              <a:t>search.zul</a:t>
            </a:r>
            <a:r>
              <a:rPr lang="en-US" sz="2800" dirty="0">
                <a:latin typeface="Arial"/>
              </a:rPr>
              <a:t> </a:t>
            </a:r>
            <a:r>
              <a:rPr lang="en-US" sz="2800" dirty="0" smtClean="0">
                <a:latin typeface="Arial"/>
              </a:rPr>
              <a:t>file</a:t>
            </a:r>
            <a:endParaRPr lang="en-US" dirty="0"/>
          </a:p>
          <a:p>
            <a:pPr marL="914400" lvl="1" indent="-457200">
              <a:buSzPct val="100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/>
              </a:rPr>
              <a:t>&lt;</a:t>
            </a:r>
            <a:r>
              <a:rPr lang="en-US" sz="2400" dirty="0" err="1" smtClean="0">
                <a:latin typeface="Arial"/>
              </a:rPr>
              <a:t>hlayout</a:t>
            </a:r>
            <a:r>
              <a:rPr lang="en-US" sz="2400" dirty="0" smtClean="0">
                <a:latin typeface="Arial"/>
              </a:rPr>
              <a:t> </a:t>
            </a:r>
            <a:r>
              <a:rPr lang="en-US" sz="2400" dirty="0">
                <a:latin typeface="Arial"/>
              </a:rPr>
              <a:t>height="32px" style="background:</a:t>
            </a:r>
            <a:r>
              <a:rPr lang="en-US" sz="2400" dirty="0">
                <a:solidFill>
                  <a:srgbClr val="800000"/>
                </a:solidFill>
                <a:latin typeface="Arial"/>
              </a:rPr>
              <a:t>#</a:t>
            </a:r>
            <a:r>
              <a:rPr lang="en-US" sz="2400" dirty="0" err="1">
                <a:solidFill>
                  <a:srgbClr val="800000"/>
                </a:solidFill>
                <a:latin typeface="Arial"/>
              </a:rPr>
              <a:t>eeffcc</a:t>
            </a:r>
            <a:r>
              <a:rPr lang="en-US" sz="2400" dirty="0">
                <a:solidFill>
                  <a:srgbClr val="800000"/>
                </a:solidFill>
                <a:latin typeface="Arial"/>
              </a:rPr>
              <a:t>;</a:t>
            </a:r>
            <a:r>
              <a:rPr lang="en-US" sz="2400" dirty="0">
                <a:latin typeface="Arial"/>
              </a:rPr>
              <a:t>"</a:t>
            </a:r>
            <a:endParaRPr dirty="0"/>
          </a:p>
        </p:txBody>
      </p:sp>
      <p:pic>
        <p:nvPicPr>
          <p:cNvPr id="135" name="Picture 134"/>
          <p:cNvPicPr/>
          <p:nvPr/>
        </p:nvPicPr>
        <p:blipFill>
          <a:blip r:embed="rId2"/>
          <a:stretch/>
        </p:blipFill>
        <p:spPr>
          <a:xfrm>
            <a:off x="-365760" y="1875240"/>
            <a:ext cx="17377920" cy="2513880"/>
          </a:xfrm>
          <a:prstGeom prst="rect">
            <a:avLst/>
          </a:prstGeom>
          <a:ln>
            <a:solidFill>
              <a:srgbClr val="3465A4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8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8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8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800"/>
                            </p:stCondLst>
                            <p:childTnLst>
                              <p:par>
                                <p:cTn id="11" presetID="10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latin typeface="Arial"/>
              </a:rPr>
              <a:t>Localizing Images</a:t>
            </a:r>
            <a:endParaRPr/>
          </a:p>
        </p:txBody>
      </p:sp>
      <p:sp>
        <p:nvSpPr>
          <p:cNvPr id="137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</a:rPr>
              <a:t>Like </a:t>
            </a:r>
            <a:r>
              <a:rPr lang="en-US" sz="2800" dirty="0" err="1">
                <a:latin typeface="Arial"/>
              </a:rPr>
              <a:t>zk.wcs</a:t>
            </a:r>
            <a:r>
              <a:rPr lang="en-US" sz="2800" dirty="0">
                <a:latin typeface="Arial"/>
              </a:rPr>
              <a:t> styles, some </a:t>
            </a:r>
            <a:r>
              <a:rPr lang="en-US" sz="2800" i="1" dirty="0">
                <a:latin typeface="Arial"/>
              </a:rPr>
              <a:t>images</a:t>
            </a:r>
            <a:r>
              <a:rPr lang="en-US" sz="2800" dirty="0">
                <a:latin typeface="Arial"/>
              </a:rPr>
              <a:t> are dynamically generated through the ZK </a:t>
            </a:r>
            <a:r>
              <a:rPr lang="en-US" sz="2800" dirty="0" smtClean="0">
                <a:latin typeface="Arial"/>
              </a:rPr>
              <a:t>Framework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/>
              </a:rPr>
              <a:t>Generally</a:t>
            </a:r>
            <a:r>
              <a:rPr lang="en-US" sz="2800" dirty="0">
                <a:latin typeface="Arial"/>
              </a:rPr>
              <a:t>, any image loaded using AJAX</a:t>
            </a:r>
            <a:endParaRPr dirty="0"/>
          </a:p>
        </p:txBody>
      </p:sp>
      <p:pic>
        <p:nvPicPr>
          <p:cNvPr id="138" name="Picture 137"/>
          <p:cNvPicPr/>
          <p:nvPr/>
        </p:nvPicPr>
        <p:blipFill>
          <a:blip r:embed="rId2"/>
          <a:stretch/>
        </p:blipFill>
        <p:spPr>
          <a:xfrm>
            <a:off x="2286000" y="2648160"/>
            <a:ext cx="4774320" cy="3477600"/>
          </a:xfrm>
          <a:prstGeom prst="rect">
            <a:avLst/>
          </a:prstGeom>
          <a:ln>
            <a:solidFill>
              <a:srgbClr val="3465A4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latin typeface="Arial"/>
              </a:rPr>
              <a:t>Localizing Images</a:t>
            </a:r>
            <a:endParaRPr/>
          </a:p>
        </p:txBody>
      </p:sp>
      <p:sp>
        <p:nvSpPr>
          <p:cNvPr id="140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</a:rPr>
              <a:t>You will need to create a static version of the image, and point your CSS to it</a:t>
            </a:r>
            <a:endParaRPr dirty="0"/>
          </a:p>
        </p:txBody>
      </p:sp>
      <p:pic>
        <p:nvPicPr>
          <p:cNvPr id="141" name="Picture 140"/>
          <p:cNvPicPr/>
          <p:nvPr/>
        </p:nvPicPr>
        <p:blipFill>
          <a:blip r:embed="rId2"/>
          <a:stretch/>
        </p:blipFill>
        <p:spPr>
          <a:xfrm>
            <a:off x="2886480" y="2011680"/>
            <a:ext cx="3371400" cy="4114440"/>
          </a:xfrm>
          <a:prstGeom prst="rect">
            <a:avLst/>
          </a:prstGeom>
          <a:ln>
            <a:solidFill>
              <a:srgbClr val="3465A4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latin typeface="Arial"/>
              </a:rPr>
              <a:t>Localizing Images</a:t>
            </a:r>
            <a:endParaRPr/>
          </a:p>
        </p:txBody>
      </p:sp>
      <p:sp>
        <p:nvSpPr>
          <p:cNvPr id="143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</a:rPr>
              <a:t>Keep in mind that for any dynamic image there will be dynamic CSS </a:t>
            </a:r>
            <a:r>
              <a:rPr lang="en-US" sz="2800" dirty="0" smtClean="0">
                <a:latin typeface="Arial"/>
              </a:rPr>
              <a:t>somewhere.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/>
              </a:rPr>
              <a:t>You </a:t>
            </a:r>
            <a:r>
              <a:rPr lang="en-US" sz="2800" dirty="0">
                <a:latin typeface="Arial"/>
              </a:rPr>
              <a:t>will need to use the “!important” override a lot.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latin typeface="Arial"/>
              </a:rPr>
              <a:t>Localizing Other Stuff</a:t>
            </a:r>
            <a:endParaRPr/>
          </a:p>
        </p:txBody>
      </p:sp>
      <p:sp>
        <p:nvSpPr>
          <p:cNvPr id="145" name="TextShape 2"/>
          <p:cNvSpPr txBox="1"/>
          <p:nvPr/>
        </p:nvSpPr>
        <p:spPr>
          <a:xfrm>
            <a:off x="457200" y="1152360"/>
            <a:ext cx="8229240" cy="497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</a:rPr>
              <a:t>Modifying the appearance is as far as we've </a:t>
            </a:r>
            <a:r>
              <a:rPr lang="en-US" sz="2800" dirty="0" smtClean="0">
                <a:latin typeface="Arial"/>
              </a:rPr>
              <a:t>gone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/>
              </a:rPr>
              <a:t>Changing </a:t>
            </a:r>
            <a:r>
              <a:rPr lang="en-US" sz="2800" dirty="0">
                <a:latin typeface="Arial"/>
              </a:rPr>
              <a:t>text and adding HTML should be relatively easy by modifying the appropriate “</a:t>
            </a:r>
            <a:r>
              <a:rPr lang="en-US" sz="2800" dirty="0" err="1">
                <a:latin typeface="Arial"/>
              </a:rPr>
              <a:t>zul</a:t>
            </a:r>
            <a:r>
              <a:rPr lang="en-US" sz="2800" dirty="0">
                <a:latin typeface="Arial"/>
              </a:rPr>
              <a:t>” </a:t>
            </a:r>
            <a:r>
              <a:rPr lang="en-US" sz="2800" dirty="0" smtClean="0">
                <a:latin typeface="Arial"/>
              </a:rPr>
              <a:t>file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/>
              </a:rPr>
              <a:t>However</a:t>
            </a:r>
            <a:r>
              <a:rPr lang="en-US" sz="2800" dirty="0">
                <a:latin typeface="Arial"/>
              </a:rPr>
              <a:t>, we don't really have much access to the Model or Controller portions of the SEP, so changing functionality or business processes will be </a:t>
            </a:r>
            <a:r>
              <a:rPr lang="en-US" sz="2800" dirty="0" smtClean="0">
                <a:latin typeface="Arial"/>
              </a:rPr>
              <a:t>difficult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/>
              </a:rPr>
              <a:t>Maybe </a:t>
            </a:r>
            <a:r>
              <a:rPr lang="en-US" sz="2800" dirty="0">
                <a:latin typeface="Arial"/>
              </a:rPr>
              <a:t>someday Ellucian will include the source code for us so we can compile these like we do Banner XE apps...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457200" y="137160"/>
            <a:ext cx="8229240" cy="779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latin typeface="Arial"/>
              </a:rPr>
              <a:t>Questions?</a:t>
            </a:r>
            <a:endParaRPr/>
          </a:p>
        </p:txBody>
      </p:sp>
      <p:pic>
        <p:nvPicPr>
          <p:cNvPr id="147" name="Picture 146"/>
          <p:cNvPicPr/>
          <p:nvPr/>
        </p:nvPicPr>
        <p:blipFill>
          <a:blip r:embed="rId2"/>
          <a:stretch/>
        </p:blipFill>
        <p:spPr>
          <a:xfrm>
            <a:off x="182880" y="1153080"/>
            <a:ext cx="4973400" cy="4973400"/>
          </a:xfrm>
          <a:prstGeom prst="rect">
            <a:avLst/>
          </a:prstGeom>
          <a:ln>
            <a:noFill/>
          </a:ln>
        </p:spPr>
      </p:pic>
      <p:sp>
        <p:nvSpPr>
          <p:cNvPr id="148" name="TextShape 2"/>
          <p:cNvSpPr txBox="1"/>
          <p:nvPr/>
        </p:nvSpPr>
        <p:spPr>
          <a:xfrm>
            <a:off x="5156280" y="3200400"/>
            <a:ext cx="3200400" cy="10018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3200">
                <a:latin typeface="Arial"/>
              </a:rPr>
              <a:t>Randy Hunt</a:t>
            </a:r>
            <a:endParaRPr/>
          </a:p>
          <a:p>
            <a:r>
              <a:rPr lang="en-US" sz="3200">
                <a:latin typeface="Arial"/>
              </a:rPr>
              <a:t>rhunt@dixie.edu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788</Words>
  <Application>Microsoft Office PowerPoint</Application>
  <PresentationFormat>On-screen Show (4:3)</PresentationFormat>
  <Paragraphs>96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Hunt, Randy</dc:creator>
  <cp:lastModifiedBy>Hunt, Randy</cp:lastModifiedBy>
  <cp:revision>9</cp:revision>
  <dcterms:modified xsi:type="dcterms:W3CDTF">2015-06-02T20:55:11Z</dcterms:modified>
</cp:coreProperties>
</file>